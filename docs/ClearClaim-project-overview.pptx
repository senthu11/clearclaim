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c6f49061834cf7" /><Relationship Type="http://schemas.openxmlformats.org/officeDocument/2006/relationships/extended-properties" Target="/docProps/app.xml" Id="R508142859e614031" /><Relationship Type="http://schemas.openxmlformats.org/officeDocument/2006/relationships/officeDocument" Target="/ppt/presentation.xml" Id="R56a1165a75a74b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4d86542cbe40f3"/>
  </p:sldMasterIdLst>
  <p:notesMasterIdLst>
    <p:notesMasterId xmlns:r="http://schemas.openxmlformats.org/officeDocument/2006/relationships" r:id="R3a0af9e5dfa04395"/>
  </p:notesMasterIdLst>
  <p:sldIdLst>
    <p:sldId xmlns:r="http://schemas.openxmlformats.org/officeDocument/2006/relationships" id="256" r:id="Rd7f9de7902ef4587"/>
    <p:sldId xmlns:r="http://schemas.openxmlformats.org/officeDocument/2006/relationships" id="257" r:id="Ra122ff0657b442ff"/>
    <p:sldId xmlns:r="http://schemas.openxmlformats.org/officeDocument/2006/relationships" id="258" r:id="Rb3389b64e23b4c6f"/>
    <p:sldId xmlns:r="http://schemas.openxmlformats.org/officeDocument/2006/relationships" id="259" r:id="R6e87829152e444a5"/>
    <p:sldId xmlns:r="http://schemas.openxmlformats.org/officeDocument/2006/relationships" id="260" r:id="Rb87e1422c33e4bcd"/>
    <p:sldId xmlns:r="http://schemas.openxmlformats.org/officeDocument/2006/relationships" id="261" r:id="R434996b57c4f4ca2"/>
    <p:sldId xmlns:r="http://schemas.openxmlformats.org/officeDocument/2006/relationships" id="262" r:id="R81e6c17399ff421a"/>
    <p:sldId xmlns:r="http://schemas.openxmlformats.org/officeDocument/2006/relationships" id="263" r:id="Rb7a5497ff0124af3"/>
    <p:sldId xmlns:r="http://schemas.openxmlformats.org/officeDocument/2006/relationships" id="264" r:id="R98078f039bbc464b"/>
    <p:sldId xmlns:r="http://schemas.openxmlformats.org/officeDocument/2006/relationships" id="265" r:id="R3dae4d603cec4138"/>
    <p:sldId xmlns:r="http://schemas.openxmlformats.org/officeDocument/2006/relationships" id="266" r:id="R0a44bd3bebff4887"/>
    <p:sldId xmlns:r="http://schemas.openxmlformats.org/officeDocument/2006/relationships" id="267" r:id="R44a09f4e57fe4808"/>
    <p:sldId xmlns:r="http://schemas.openxmlformats.org/officeDocument/2006/relationships" id="268" r:id="R43336b2f9ec84e24"/>
    <p:sldId xmlns:r="http://schemas.openxmlformats.org/officeDocument/2006/relationships" id="269" r:id="R8785681b343d459a"/>
    <p:sldId xmlns:r="http://schemas.openxmlformats.org/officeDocument/2006/relationships" id="270" r:id="R73b4204a21864d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f2fe1b1d4942d9" /><Relationship Type="http://schemas.openxmlformats.org/officeDocument/2006/relationships/slideMaster" Target="/ppt/slideMasters/slideMaster1.xml" Id="R654d86542cbe40f3" /><Relationship Type="http://schemas.openxmlformats.org/officeDocument/2006/relationships/notesMaster" Target="/ppt/notesMasters/notesMaster1.xml" Id="R3a0af9e5dfa04395" /><Relationship Type="http://schemas.openxmlformats.org/officeDocument/2006/relationships/presProps" Target="/ppt/presProps.xml" Id="Rc8c0067a7ab547df" /><Relationship Type="http://schemas.openxmlformats.org/officeDocument/2006/relationships/tableStyles" Target="/ppt/tableStyles.xml" Id="R5c8f3dd6dca84fa4" /><Relationship Type="http://schemas.openxmlformats.org/officeDocument/2006/relationships/slide" Target="/ppt/slides/slide1.xml" Id="Rd7f9de7902ef4587" /><Relationship Type="http://schemas.openxmlformats.org/officeDocument/2006/relationships/slide" Target="/ppt/slides/slide2.xml" Id="Ra122ff0657b442ff" /><Relationship Type="http://schemas.openxmlformats.org/officeDocument/2006/relationships/slide" Target="/ppt/slides/slide3.xml" Id="Rb3389b64e23b4c6f" /><Relationship Type="http://schemas.openxmlformats.org/officeDocument/2006/relationships/slide" Target="/ppt/slides/slide4.xml" Id="R6e87829152e444a5" /><Relationship Type="http://schemas.openxmlformats.org/officeDocument/2006/relationships/slide" Target="/ppt/slides/slide5.xml" Id="Rb87e1422c33e4bcd" /><Relationship Type="http://schemas.openxmlformats.org/officeDocument/2006/relationships/slide" Target="/ppt/slides/slide6.xml" Id="R434996b57c4f4ca2" /><Relationship Type="http://schemas.openxmlformats.org/officeDocument/2006/relationships/slide" Target="/ppt/slides/slide7.xml" Id="R81e6c17399ff421a" /><Relationship Type="http://schemas.openxmlformats.org/officeDocument/2006/relationships/slide" Target="/ppt/slides/slide8.xml" Id="Rb7a5497ff0124af3" /><Relationship Type="http://schemas.openxmlformats.org/officeDocument/2006/relationships/slide" Target="/ppt/slides/slide9.xml" Id="R98078f039bbc464b" /><Relationship Type="http://schemas.openxmlformats.org/officeDocument/2006/relationships/slide" Target="/ppt/slides/slide10.xml" Id="R3dae4d603cec4138" /><Relationship Type="http://schemas.openxmlformats.org/officeDocument/2006/relationships/slide" Target="/ppt/slides/slide11.xml" Id="R0a44bd3bebff4887" /><Relationship Type="http://schemas.openxmlformats.org/officeDocument/2006/relationships/slide" Target="/ppt/slides/slide12.xml" Id="R44a09f4e57fe4808" /><Relationship Type="http://schemas.openxmlformats.org/officeDocument/2006/relationships/slide" Target="/ppt/slides/slide13.xml" Id="R43336b2f9ec84e24" /><Relationship Type="http://schemas.openxmlformats.org/officeDocument/2006/relationships/slide" Target="/ppt/slides/slide14.xml" Id="R8785681b343d459a" /><Relationship Type="http://schemas.openxmlformats.org/officeDocument/2006/relationships/slide" Target="/ppt/slides/slide15.xml" Id="R73b4204a21864d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66687cc52a4a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f699378ac44dbb" /><Relationship Type="http://schemas.openxmlformats.org/officeDocument/2006/relationships/notesMaster" Target="/ppt/notesMasters/notesMaster1.xml" Id="Re9d977aef2104d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e2dfc8bf7844df" /><Relationship Type="http://schemas.openxmlformats.org/officeDocument/2006/relationships/notesMaster" Target="/ppt/notesMasters/notesMaster1.xml" Id="R6b5d9132276b4e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a96464ca5b44ca" /><Relationship Type="http://schemas.openxmlformats.org/officeDocument/2006/relationships/notesMaster" Target="/ppt/notesMasters/notesMaster1.xml" Id="Rfd6f8d61e5454e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c8ea68c0894084" /><Relationship Type="http://schemas.openxmlformats.org/officeDocument/2006/relationships/notesMaster" Target="/ppt/notesMasters/notesMaster1.xml" Id="Rfb341df6e7bc4f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f33b02b6c24255" /><Relationship Type="http://schemas.openxmlformats.org/officeDocument/2006/relationships/notesMaster" Target="/ppt/notesMasters/notesMaster1.xml" Id="Rc8092a533df441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00d76c2c494cdc" /><Relationship Type="http://schemas.openxmlformats.org/officeDocument/2006/relationships/notesMaster" Target="/ppt/notesMasters/notesMaster1.xml" Id="Rc2786b4593ad4f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f3b8d817d84785" /><Relationship Type="http://schemas.openxmlformats.org/officeDocument/2006/relationships/notesMaster" Target="/ppt/notesMasters/notesMaster1.xml" Id="Rb063fdcc9dca41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e3257854c94471" /><Relationship Type="http://schemas.openxmlformats.org/officeDocument/2006/relationships/notesMaster" Target="/ppt/notesMasters/notesMaster1.xml" Id="R8294a63360b342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0317327e4b4eee" /><Relationship Type="http://schemas.openxmlformats.org/officeDocument/2006/relationships/notesMaster" Target="/ppt/notesMasters/notesMaster1.xml" Id="R4104b0dac79843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244bb7be2f4414" /><Relationship Type="http://schemas.openxmlformats.org/officeDocument/2006/relationships/notesMaster" Target="/ppt/notesMasters/notesMaster1.xml" Id="R7a03aabb414942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194724ea524614" /><Relationship Type="http://schemas.openxmlformats.org/officeDocument/2006/relationships/notesMaster" Target="/ppt/notesMasters/notesMaster1.xml" Id="Rb76b614760494b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e69e61e09d4d53" /><Relationship Type="http://schemas.openxmlformats.org/officeDocument/2006/relationships/notesMaster" Target="/ppt/notesMasters/notesMaster1.xml" Id="R380755b9ae3841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aa2c562eeec4061" /><Relationship Type="http://schemas.openxmlformats.org/officeDocument/2006/relationships/notesMaster" Target="/ppt/notesMasters/notesMaster1.xml" Id="Re7bb69df31174e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0db35465fb45e0" /><Relationship Type="http://schemas.openxmlformats.org/officeDocument/2006/relationships/notesMaster" Target="/ppt/notesMasters/notesMaster1.xml" Id="Ra89262e1ba9b4d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8af1a262c147c1" /><Relationship Type="http://schemas.openxmlformats.org/officeDocument/2006/relationships/notesMaster" Target="/ppt/notesMasters/notesMaster1.xml" Id="R760b3ab7590642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README.md, app.py, billing/workflow.py. Educational prototype with fictional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billing/workspace.py, billing/audit.py, billing/review_ui.py, billing/exports.py. The educational prototype supports structured review and clarification, not automated fraud determinations or coverage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next four slides illustrate intended use with fictional situations. Sources: billing/test_cases.py, billing/audit.py, billing/workspace.py, app.py, billing/review_ui.py. These are hypothetical scenarios, not observed patient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example based on billing/test_cases.py: three-repeated-services. Code 99213 appears three times on 2026-10-01 with the same modifiers at USD 100 each. audit_bill reports total 300 and a 200 illustrative duplicate reduction. Repeated services can be legitimate. Sources: billing/audit.py and billing/review_ui.py.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example based on billing/test_cases.py: panel-two-components and distinct-components. Panel 80053 costs 50, glucose 82947 costs 10 and creatinine 82565 costs 12. Under POL-BUNDLE, the two components overlap with the panel: total 72 and illustrative reduction 22. Distinct-service modifiers can suppress the demo flag. Sources: data/policies.json and billing/audit.py.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Hypothetical extraction scenario illustrating implemented statement reconciliation. app.py compares an optional user-entered statement total with confirmed row amounts. A mismatch blocks confirmation unless corrected or explained. The system does not prove a row is missing or automatically find it. Sources: app.py, billing/workspace.py and tests/test_review_features.py.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Hypothetical payment scenario using the values in scripts/generate_test_pack.py eob-and-payments.json. Financial fields are separate from the audit and patient responsibility remains unknown unless explicitly entered from an EOB. Unique code/date pairs can be matched while repeated pairs remain unresolved. Sources: billing/review.py and billing/review_ui.py.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intended audiences inferred from the project workflow, not measured adoption or verified customer segments. Sources: app.py, billing/person.py, billing/report_ui.py.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billing/workflow.py, billing/extraction.py, billing/report_ui.py. Main upload path stays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requirements.txt, billing/extraction.py, billing/knowledge.py, billing/models.py, billing/storage.py, billing/exports.py.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billing/privacy.py, billing/workflow.py, billing/chat.py. Uploads do not become cloud-eligible by being labeled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sources: billing/privacy.py (request_for_bill and model_payload), billing/person.py, billing/extraction.py, billing/chat.py and billing/llm.py. PII means personally identifiable information. All uploads take the local path, including uploaded synthetic samples. Typed question/history never enters provider payloads. Only fixed built-in fixtures and fixed topics are reconstructed for optional cloud requests. Even fictional patient/provider/account fields are excluded. Edited fixtures lose cloud eligibility. External tracing is disabled. This is an implemented data boundary, not a certification of HIPAA compliance or de-identification. Local exports can contain identifiers if the user opts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billing/samples.py, billing/audit.py. Issues to find scenario: 840.00 billed, 340.00 illustrative reduction and 7 findings. Reductions use fictional references and cap overlap by 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billing/test_cases.py, scripts/generate_test_pack.py, tests/test_synthetic_pack.py. Expected outcomes are separately specified and asserted against the audit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billing/storage.py, billing/review.py. Login was explicitly excluded by user request. Current app is single-user localhost and has no Google sign-in.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018ce5a634e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65fd06970e42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237b2b19f4a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f3faf1d25b48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2019a773d049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b9ca420f94b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93F2A1-2CCB-4EA0-9DFE-34B1C91FE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F11BFE-3C47-492E-B940-E2178A4164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9B788D-F874-49C1-BA95-44B9D54DEC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D52C48-B75F-4E3B-876B-CA3FAA2D77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D07823-6544-4084-A11B-722E2E831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5EB7BA-8F22-4336-A461-CAABDBA0BD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A216A9-EB18-4546-B35F-AC4A015F77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1CDF431-0E63-4993-A1CD-EB064A2A1E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DF703B-B2EE-4BBD-A68D-F953C915EB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2F73D5-1345-4F0D-9088-3CA7E4DF1E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814b74c9d9485e" /><Relationship Type="http://schemas.openxmlformats.org/officeDocument/2006/relationships/slideLayout" Target="/ppt/slideLayouts/slideLayout1.xml" Id="R0f546df2b6bc4d44" /><Relationship Type="http://schemas.openxmlformats.org/officeDocument/2006/relationships/slideLayout" Target="/ppt/slideLayouts/slideLayout2.xml" Id="R00ee56736023465f" /><Relationship Type="http://schemas.openxmlformats.org/officeDocument/2006/relationships/slideLayout" Target="/ppt/slideLayouts/slideLayout3.xml" Id="R855292de1dae47d6" /><Relationship Type="http://schemas.openxmlformats.org/officeDocument/2006/relationships/slideLayout" Target="/ppt/slideLayouts/slideLayout4.xml" Id="Radad1888bbd64a43" /><Relationship Type="http://schemas.openxmlformats.org/officeDocument/2006/relationships/slideLayout" Target="/ppt/slideLayouts/slideLayout5.xml" Id="Ra095c40477e54fe4" /><Relationship Type="http://schemas.openxmlformats.org/officeDocument/2006/relationships/slideLayout" Target="/ppt/slideLayouts/slideLayout6.xml" Id="R86c55fb67aec44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546df2b6bc4d44"/>
    <p:sldLayoutId xmlns:r="http://schemas.openxmlformats.org/officeDocument/2006/relationships" id="2147483650" r:id="R00ee56736023465f"/>
    <p:sldLayoutId xmlns:r="http://schemas.openxmlformats.org/officeDocument/2006/relationships" id="2147483651" r:id="R855292de1dae47d6"/>
    <p:sldLayoutId xmlns:r="http://schemas.openxmlformats.org/officeDocument/2006/relationships" id="2147483652" r:id="Radad1888bbd64a43"/>
    <p:sldLayoutId xmlns:r="http://schemas.openxmlformats.org/officeDocument/2006/relationships" id="2147483653" r:id="Ra095c40477e54fe4"/>
    <p:sldLayoutId xmlns:r="http://schemas.openxmlformats.org/officeDocument/2006/relationships" id="2147483654" r:id="R86c55fb67aec44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3c7b00470842d8" /><Relationship Type="http://schemas.openxmlformats.org/officeDocument/2006/relationships/notesSlide" Target="/ppt/notesSlides/notesSlide1.xml" Id="R096b4a56eb0140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a0b0e42ed04c4a" /><Relationship Type="http://schemas.openxmlformats.org/officeDocument/2006/relationships/notesSlide" Target="/ppt/notesSlides/notesSlide2.xml" Id="R489f4568132340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1e9f2d5e754d7f" /><Relationship Type="http://schemas.openxmlformats.org/officeDocument/2006/relationships/notesSlide" Target="/ppt/notesSlides/notesSlide3.xml" Id="R902d401ba42146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924dc3c6a94a30" /><Relationship Type="http://schemas.openxmlformats.org/officeDocument/2006/relationships/notesSlide" Target="/ppt/notesSlides/notesSlide4.xml" Id="Reacec8acab9f41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dce143ad3f41b8" /><Relationship Type="http://schemas.openxmlformats.org/officeDocument/2006/relationships/notesSlide" Target="/ppt/notesSlides/notesSlide5.xml" Id="R746de1d941c745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30953365d442c" /><Relationship Type="http://schemas.openxmlformats.org/officeDocument/2006/relationships/notesSlide" Target="/ppt/notesSlides/notesSlide6.xml" Id="Re73f9fd96baf4f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b8facdfaa4644" /><Relationship Type="http://schemas.openxmlformats.org/officeDocument/2006/relationships/notesSlide" Target="/ppt/notesSlides/notesSlide7.xml" Id="Ree6b530bcc1c4d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31b2da3d24e65" /><Relationship Type="http://schemas.openxmlformats.org/officeDocument/2006/relationships/notesSlide" Target="/ppt/notesSlides/notesSlide8.xml" Id="Rc95833b8dc1b46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3ec76f66da4add" /><Relationship Type="http://schemas.openxmlformats.org/officeDocument/2006/relationships/notesSlide" Target="/ppt/notesSlides/notesSlide9.xml" Id="R9e5a50c4a0964b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b4e64396d4fdb" /><Relationship Type="http://schemas.openxmlformats.org/officeDocument/2006/relationships/notesSlide" Target="/ppt/notesSlides/notesSlide10.xml" Id="R6bed9908858747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475b18967748f0" /><Relationship Type="http://schemas.openxmlformats.org/officeDocument/2006/relationships/notesSlide" Target="/ppt/notesSlides/notesSlide11.xml" Id="R798dff79974b4e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d916cbcb554966" /><Relationship Type="http://schemas.openxmlformats.org/officeDocument/2006/relationships/notesSlide" Target="/ppt/notesSlides/notesSlide12.xml" Id="Rca235916d95049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0bc272440b4b1c" /><Relationship Type="http://schemas.openxmlformats.org/officeDocument/2006/relationships/notesSlide" Target="/ppt/notesSlides/notesSlide13.xml" Id="R771dd75d053a48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6d044914c142bc" /><Relationship Type="http://schemas.openxmlformats.org/officeDocument/2006/relationships/notesSlide" Target="/ppt/notesSlides/notesSlide14.xml" Id="R55dcaef035ed4b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fd064cdabd4714" /><Relationship Type="http://schemas.openxmlformats.org/officeDocument/2006/relationships/notesSlide" Target="/ppt/notesSlides/notesSlide15.xml" Id="R27de38dcc0e24a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5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602BA-5A59-4974-BB5C-B9D70F5E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C2822-5DA7-4CD9-AA4F-8FC10CAB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9EAD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F51D8-AD5C-44C1-B49F-17420219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Medical Billing Fraud Detective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CE636-341C-4889-BEC6-894C8332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overview, intended users and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45091-6329-444B-878E-9745C226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D9EAD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EADF"/>
                </a:solidFill>
                <a:latin typeface="Arial"/>
                <a:ea typeface="Arial"/>
                <a:cs typeface="Arial"/>
              </a:rPr>
              <a:t>Educational prototype with synthetic bills and fictional references</a:t>
            </a:r>
          </a:p>
        </p:txBody>
      </p:sp>
    </p:spTree>
    <p:extLst>
      <p:ext uri="{BB962C8B-B14F-4D97-AF65-F5344CB8AC3E}">
        <p14:creationId xmlns:p14="http://schemas.microsoft.com/office/powerpoint/2010/main" val="14852429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BC235-96C7-4DB4-BCF6-4F26A862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3"/>
                </a:solidFill>
                <a:latin typeface="Arial"/>
                <a:ea typeface="Arial"/>
                <a:cs typeface="Arial"/>
              </a:rPr>
              <a:t>Project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4F6D5-6934-4814-AD71-E889694E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2D353-094D-44B1-8904-2DC86EC8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Understand charges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DF911-D9A8-4411-AF2E-5B1C653A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6687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Convert a bill into editable charges. Verify codes, dates, quantities and amounts against the original document.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0C896-F467-461E-8B0D-5A22BB3D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Explain findings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1D6C3-38EC-41B2-B0F6-5E527CD0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Identify possible repeats, panel overlap and inconsistent charges. Explain each flag with evidence and a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EBB50-1506-4A80-8236-2FA957B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Prepare a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3E1B5-477D-4E89-910A-DB3C0394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3387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Help users request clarification: save assessments, compare EOB entries and draft a focused billing-review letter.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4887F-18B2-476A-9B91-E0D9ECFE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All bundled prices and policies are fictional. Findings require human review.</a:t>
            </a:r>
          </a:p>
        </p:txBody>
      </p:sp>
    </p:spTree>
    <p:extLst>
      <p:ext uri="{BB962C8B-B14F-4D97-AF65-F5344CB8AC3E}">
        <p14:creationId xmlns:p14="http://schemas.microsoft.com/office/powerpoint/2010/main" val="7496927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A76E6-A28E-4103-9DE9-6A811A3F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3"/>
                </a:solidFill>
                <a:latin typeface="Arial"/>
                <a:ea typeface="Arial"/>
                <a:cs typeface="Arial"/>
              </a:rPr>
              <a:t>Why this app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8A2A5-8EEE-4725-B52F-AB160AAE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96858-3AB1-4743-A139-11A611BB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Make bills understandable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1778F-A661-4D09-8D3A-7EAA535F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A patient sees repeated visits, unfamiliar lab codes or a total that does not match the extracted rows.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4EE74-6788-4228-BACB-93012E91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Support informed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CBAEC-CE28-4711-B5F7-AA52A8AB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The app links each concern to the charge and evidence, helping the patient ask a specific billing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1AA2E-0279-46FB-A5EC-FA7DF8EB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Keep the user in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4CC9B-6EB2-4521-BF05-72A8790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81500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The patient verifies source data, records the billing office response and chooses what to include in a review letter.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9894E-B7C4-4C7E-B54B-5C5277D4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The goal is a clearer, documented review. Real billing decisions need verified records and applicable policies.</a:t>
            </a:r>
          </a:p>
        </p:txBody>
      </p:sp>
    </p:spTree>
    <p:extLst>
      <p:ext uri="{BB962C8B-B14F-4D97-AF65-F5344CB8AC3E}">
        <p14:creationId xmlns:p14="http://schemas.microsoft.com/office/powerpoint/2010/main" val="11289141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D7D0C-4AD1-4C1F-9FD3-1A5B3C3E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3"/>
                </a:solidFill>
                <a:latin typeface="Arial"/>
                <a:ea typeface="Arial"/>
                <a:cs typeface="Arial"/>
              </a:rPr>
              <a:t>Scenario 1: Three charges for one visit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20978-9F2B-4F1C-8BDD-8E4E1C23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5AD85-9C33-428C-B1A8-FC26BD56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The situation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6303E-BD27-4559-9935-DCA17D09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Alex sees three office-visit charges of $100 for the same date and code. The statement totals $300.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033A1-BAFB-439B-AE13-488662D9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How the app helps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88C14-8969-405D-A5FE-D5251C1B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It groups the repeated entries, shows all three source lines and flags $200 as an illustrative amount to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6222B-78E7-44EF-BEF6-C7B07A31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The 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1A0BF-A842-4BD9-9124-838C1FE5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81500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Alex asks whether the entries represent separate services. If the office explains them, Alex marks the finding Explained.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E4465-CA0F-448D-B74B-F3E89907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Fictional scenario. A repeated entry is a question to investigate, not proof of an error or a promised refund.</a:t>
            </a:r>
          </a:p>
        </p:txBody>
      </p:sp>
    </p:spTree>
    <p:extLst>
      <p:ext uri="{BB962C8B-B14F-4D97-AF65-F5344CB8AC3E}">
        <p14:creationId xmlns:p14="http://schemas.microsoft.com/office/powerpoint/2010/main" val="659016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3F4CE-BE10-4AA9-A362-21DCF235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3"/>
                </a:solidFill>
                <a:latin typeface="Arial"/>
                <a:ea typeface="Arial"/>
                <a:cs typeface="Arial"/>
              </a:rPr>
              <a:t>Scenario 2: A panel and its components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A9443-AEC4-48A6-B76F-FF35C85E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AB300-DFE8-4744-BD45-5AC689BA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The situation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B9353-6EE8-4C78-AAE5-05CD73C4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Jordan sees a $50 lab panel, a $10 glucose test and a $12 creatinine test, all on the same service 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2A70B-C76F-4D96-8B44-1D5E4466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How the app helps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C0588-B2FF-4023-9609-87D20983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The fictional panel rule identifies $22 in possible overlap. The app shows the component codes and supporting rule.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F7A4D-D3F2-4782-943E-52FEDE90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The 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09E6C-2D8D-485E-B978-401A3FDB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81500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Jordan asks whether the tests were part of the panel or separate services. A distinct-service modifier may explain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29EDE-8183-418E-A391-CA129A65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Fictional scenario. Actual billing depends on service records and the applicable payer policy.</a:t>
            </a:r>
          </a:p>
        </p:txBody>
      </p:sp>
    </p:spTree>
    <p:extLst>
      <p:ext uri="{BB962C8B-B14F-4D97-AF65-F5344CB8AC3E}">
        <p14:creationId xmlns:p14="http://schemas.microsoft.com/office/powerpoint/2010/main" val="15181426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69D4B-BB22-4614-B631-DAAD62C4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3"/>
                </a:solidFill>
                <a:latin typeface="Arial"/>
                <a:ea typeface="Arial"/>
                <a:cs typeface="Arial"/>
              </a:rPr>
              <a:t>Scenario 3: Extraction misses a charge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DDB6C-9EBF-4E0B-A2CE-235CADD8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1B46B-95C4-4AA0-8F55-C8F98B72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The situation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B3C53-B9A8-4BD0-AFA3-E73D5A14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A scanned statement shows $840, but the extracted charge rows total $780. The $60 difference needs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D254A-5C3D-42B0-802E-7243C8B6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How the app helps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65C2B-9867-461F-AD4C-5AF30875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The user enters the statement total. Reconciliation detects the difference and asks for correction or an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A83C5-07C8-4B07-A6D2-E434C327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The 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DD561-D6D9-4344-B6D7-0F0E3707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81500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Sam checks the source preview, adds a missed $60 charge if verified, then confirms the corrected rows before the audit.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ED8CA-8783-4AE8-90EC-48724F63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Hypothetical scenario. A difference can also reflect credits or statement scope. The app does not assume its cause.</a:t>
            </a:r>
          </a:p>
        </p:txBody>
      </p:sp>
    </p:spTree>
    <p:extLst>
      <p:ext uri="{BB962C8B-B14F-4D97-AF65-F5344CB8AC3E}">
        <p14:creationId xmlns:p14="http://schemas.microsoft.com/office/powerpoint/2010/main" val="16675612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D6C42-F186-4AF8-8189-E63013FF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3"/>
                </a:solidFill>
                <a:latin typeface="Arial"/>
                <a:ea typeface="Arial"/>
                <a:cs typeface="Arial"/>
              </a:rPr>
              <a:t>Scenario 4: The bill is not the amount owed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35D5F-199A-4075-A09A-E161873B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2F0C0-E091-4496-80C4-A5F8AA18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The situation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ECCBE-7686-41D7-9ECE-DD9B6E9E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Taylor has a $100 charge, a $60 insurer payment and a $10 credit. The EOB does not state patient responsibility.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CCCE2-F2FB-4117-9D98-90529DF6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How the app helps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76034-2AFB-4B5E-B6BC-671E6B8B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It keeps charges, payments and credits separate. Patient responsibility stays Unknown, even if the numbers suggest $30.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3A138-F615-4BD2-9EDD-24E31732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The 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0F5CF-6D23-4955-A9B0-094DE75E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81500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Taylor requests the stated responsibility and compares EOB lines with the bill. Ambiguous repeated matches need manual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896B2-EEC9-422D-804B-B3675503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Hypothetical scenario. Fictional audit reductions do not establish insurance coverage or an amount owed.</a:t>
            </a:r>
          </a:p>
        </p:txBody>
      </p:sp>
    </p:spTree>
    <p:extLst>
      <p:ext uri="{BB962C8B-B14F-4D97-AF65-F5344CB8AC3E}">
        <p14:creationId xmlns:p14="http://schemas.microsoft.com/office/powerpoint/2010/main" val="15457328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8FB37-B7A4-42BE-9E0F-31E60671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3"/>
                </a:solidFill>
                <a:latin typeface="Arial"/>
                <a:ea typeface="Arial"/>
                <a:cs typeface="Arial"/>
              </a:rPr>
              <a:t>Intended users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84CEC-15D9-422C-9442-7BF4ACA5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B3C55-F71D-4FFE-BFB8-FCE68357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Patients and caregivers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759E5-08FD-46F5-B5BC-2745C6C1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6687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Explore a bill, understand possible issues and prepare questions using synthetic examples.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DC202-0DF8-4403-A23F-A5DA8C96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Billing advocates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4CF16-BA11-4410-8C51-C15E5C39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48000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Review evidence, record explanations and draft a request for an itemized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F606E-22E9-4E7D-8AD8-50DADFC4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Students and developers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BF1DE-2A35-4568-98BE-E49AB671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Demonstrate OCR, rule-based auditing, local retrieval and human review in an AI workflow.</a:t>
            </a:r>
          </a:p>
        </p:txBody>
      </p:sp>
    </p:spTree>
    <p:extLst>
      <p:ext uri="{BB962C8B-B14F-4D97-AF65-F5344CB8AC3E}">
        <p14:creationId xmlns:p14="http://schemas.microsoft.com/office/powerpoint/2010/main" val="1200324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6B28F-D942-4F74-A7B3-059CECB55D4B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657600" y="460057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5B45"/>
            </a:solidFill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6B4668-EACE-4531-8FA2-50EE77F7D903}"/>
              </a:ext>
            </a:extLst>
          </p:cNvPr>
          <p:cNvCxnSpPr>
            <a:stCxn xmlns:a="http://schemas.openxmlformats.org/drawingml/2006/main" id="18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7620000" y="460057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5B45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008012-B896-4DE7-8FD4-4DB1D7A0DF49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0058400" y="2914650"/>
            <a:ext cx="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5B45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EB9E56-56E9-4FB9-9F5B-0ECCD6930D4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20000" y="231457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5B45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B6024-74A3-4BDF-9CDA-F0C98F92280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31457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5B45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5CA598-83FC-423B-8A8F-0AC853CC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3"/>
                </a:solidFill>
                <a:latin typeface="Arial"/>
                <a:ea typeface="Arial"/>
                <a:cs typeface="Arial"/>
              </a:rPr>
              <a:t>Bill review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34260-F15F-49DB-B01F-E3F1C913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A1095-5688-4EBA-A1BC-53DF8FE8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7"/>
          </a:solidFill>
          <a:ln xmlns:a="http://schemas.openxmlformats.org/drawingml/2006/main" w="9525">
            <a:solidFill>
              <a:srgbClr val="175B4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A4313-ADC9-42D1-BCE0-A3E32DFA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1  Add bill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00AE8-C454-4A51-B57E-853D0A27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PDF or 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FC82C-8629-4C45-A9A2-B1A3B9CD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7"/>
          </a:solidFill>
          <a:ln xmlns:a="http://schemas.openxmlformats.org/drawingml/2006/main" w="9525">
            <a:solidFill>
              <a:srgbClr val="175B4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FF266-7326-4054-998F-E8481826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573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2  Extract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09C0F-FB5B-4CAB-858F-05E548F1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57425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Local text or OCR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CF5FF-E7CA-4307-B3F4-0507B3F3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7"/>
          </a:solidFill>
          <a:ln xmlns:a="http://schemas.openxmlformats.org/drawingml/2006/main" w="9525">
            <a:solidFill>
              <a:srgbClr val="175B4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524DB-3068-470B-ABB1-4A3F4E2A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573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3  Confirm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5BB4F-C88F-48E8-BEEE-52D38FA7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57425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Correct charges and totals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C9981-ABEB-460D-B4B2-9D03F829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7"/>
          </a:solidFill>
          <a:ln xmlns:a="http://schemas.openxmlformats.org/drawingml/2006/main" w="9525">
            <a:solidFill>
              <a:srgbClr val="175B4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2D84A-360B-4491-8465-7AD43D63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6  Take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63D3A-720B-4454-9D22-ACE90F62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Report, letter and saved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41A30-81D2-4F40-8CF8-9557D037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7"/>
          </a:solidFill>
          <a:ln xmlns:a="http://schemas.openxmlformats.org/drawingml/2006/main" w="9525">
            <a:solidFill>
              <a:srgbClr val="175B4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84EB4-0DB4-4962-A19A-75ACE9D5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433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5  Review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8DC30-38BF-4531-8CCC-EF9A23A6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43425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Assess findings and add notes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15417-FA2C-4C5D-841F-29E5824F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0050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7"/>
          </a:solidFill>
          <a:ln xmlns:a="http://schemas.openxmlformats.org/drawingml/2006/main" w="9525">
            <a:solidFill>
              <a:srgbClr val="175B4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782D9-C2E6-4BBB-A669-EAC9EEF5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433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4 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B0AEA-8E38-43E9-B18C-E19D388E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43425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Rules and fictional references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5029F2-A686-41F7-9EA5-33C2A0C5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Human confirmation occurs before the audit runs.</a:t>
            </a:r>
          </a:p>
        </p:txBody>
      </p:sp>
    </p:spTree>
    <p:extLst>
      <p:ext uri="{BB962C8B-B14F-4D97-AF65-F5344CB8AC3E}">
        <p14:creationId xmlns:p14="http://schemas.microsoft.com/office/powerpoint/2010/main" val="7324976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632B7-C9D9-4F0F-9E58-824E14F4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3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83FCE-340C-47C1-B0C1-AB60FFA0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9B646-53A8-44F0-8A77-451ED8BA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Interface and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A51A7-9256-4105-9273-21936E80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7162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Python, Streamlit, pandas and Pydantic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EF264-8541-4961-837C-F3D002C3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Document 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9FC19-FDF7-44DF-AAF7-12DE12BD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PyMuPDF, Pillow, Tesseract or RapidOCR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84554-AF38-4E41-AC05-083DF76B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Workflow and 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B1CD0-3B21-4E9F-B9BB-38E166FC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7187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LangGraph, LangChain, scikit-learn lexical vectors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F1A17-F571-40CB-8073-D5D0EACE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Storage and exports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66B55-883A-4B74-AE26-3AF40072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Fernet encryption, openpyxl and ReportLab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450C8-B539-494C-8B49-AC4B0D45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Optional services: Nebius for unchanged built-in fixtures and Keenable for fixed public queries.</a:t>
            </a:r>
          </a:p>
        </p:txBody>
      </p:sp>
    </p:spTree>
    <p:extLst>
      <p:ext uri="{BB962C8B-B14F-4D97-AF65-F5344CB8AC3E}">
        <p14:creationId xmlns:p14="http://schemas.microsoft.com/office/powerpoint/2010/main" val="5948859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0FC15-1CCF-4ACA-9C11-07DB14B21337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201150" y="2914650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5B45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66CAB-E699-4D34-A070-E0B7AC598CAB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990850" y="2914650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5B45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12CC5-EBDA-4F5B-9563-911B7CBB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3"/>
                </a:solidFill>
                <a:latin typeface="Arial"/>
                <a:ea typeface="Arial"/>
                <a:cs typeface="Arial"/>
              </a:rPr>
              <a:t>Local processing and optional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F15DF-3324-425A-A0AD-62BA7F7D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B5D59-B182-4DD1-A836-7DE68EEC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7"/>
          </a:solidFill>
          <a:ln xmlns:a="http://schemas.openxmlformats.org/drawingml/2006/main" w="9525">
            <a:solidFill>
              <a:srgbClr val="175B4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F66F1-63DF-4B3B-B75B-B13B670B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Uploaded documents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B9D45-BBE7-443A-A5DB-21FADE4F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441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Local extraction and confirmation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A44BC-1152-4779-96E4-2008E8E6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7"/>
          </a:solidFill>
          <a:ln xmlns:a="http://schemas.openxmlformats.org/drawingml/2006/main" w="9525">
            <a:solidFill>
              <a:srgbClr val="175B4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9D648-3987-449E-B7D6-E2F054E5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Deterministic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DF912-63F4-40B4-8B5D-C73518BD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41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Rules, evidence and exact amounts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7C98F-31C9-41F5-A582-AB501255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1450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7"/>
          </a:solidFill>
          <a:ln xmlns:a="http://schemas.openxmlformats.org/drawingml/2006/main" w="9525">
            <a:solidFill>
              <a:srgbClr val="175B4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B0577-6996-4AF0-8ABF-4D71F670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573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Built-in fixtures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DB8EB-3A1A-46B1-9C3F-F607E310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57425"/>
            <a:ext cx="441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User opts in to cloud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B1089-2F7C-4A9C-A129-7700024B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1475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7"/>
          </a:solidFill>
          <a:ln xmlns:a="http://schemas.openxmlformats.org/drawingml/2006/main" w="9525">
            <a:solidFill>
              <a:srgbClr val="175B4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B1E47-C522-4347-BB3F-EE7EAB77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5762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Optional explanations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2AA54-A1C0-4F7F-AC8B-12F1FDE9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57675"/>
            <a:ext cx="441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Nebius and fixed-topic web 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EE13F-D1CB-43A3-BE18-BE3F5C12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Typed questions, personal details and uploaded bill content remain local.</a:t>
            </a:r>
          </a:p>
        </p:txBody>
      </p:sp>
    </p:spTree>
    <p:extLst>
      <p:ext uri="{BB962C8B-B14F-4D97-AF65-F5344CB8AC3E}">
        <p14:creationId xmlns:p14="http://schemas.microsoft.com/office/powerpoint/2010/main" val="3391893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13890-E199-49F6-8562-A9CE1450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3"/>
                </a:solidFill>
                <a:latin typeface="Arial"/>
                <a:ea typeface="Arial"/>
                <a:cs typeface="Arial"/>
              </a:rPr>
              <a:t>PII is not sent to the LLM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0CD95-223F-40EB-A433-DB0CCE11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8D9B8-34F4-4177-BE3C-872245D3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PII stays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9A114-AD90-4141-8003-EFB119BF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Names, age, sex and account details remain in the local app. Uploaded bills, extracted text and chat history stay local too.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FB2EB-D0EE-4AF0-8981-C55AB5C7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Cloud input is restricted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D155D-F87B-4E92-B92A-4370048B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Only unchanged built-in synthetic fixtures can use the optional LLM. Requests exclude patient, provider and account identifiers.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EFD79-5741-4653-BAA9-B38E6915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Edits stay 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95F67-480D-4CEB-9DDB-40E9D543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81500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Changing a sample disables its cloud eligibility. Typed questions map to fixed topics locally and their wording is never forwarded.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FE6C2-B481-468B-AF45-3C718C75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PII = personally identifiable information. Local downloads may contain details you choose to include.</a:t>
            </a:r>
          </a:p>
        </p:txBody>
      </p:sp>
    </p:spTree>
    <p:extLst>
      <p:ext uri="{BB962C8B-B14F-4D97-AF65-F5344CB8AC3E}">
        <p14:creationId xmlns:p14="http://schemas.microsoft.com/office/powerpoint/2010/main" val="632867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8A2B1-B48E-47FE-A1F0-D2FCE0A4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3"/>
                </a:solidFill>
                <a:latin typeface="Arial"/>
                <a:ea typeface="Arial"/>
                <a:cs typeface="Arial"/>
              </a:rPr>
              <a:t>Example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D1D7E-344E-4F18-A95F-E41BBE08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0E59F-537D-45A5-AE57-38BF7056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$840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05EFC-91AC-4F2E-9F1C-60756BBE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Total billed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487B9-33BE-4A94-9D1C-477A42B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621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$340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2DBF2-7C00-4A34-A7F6-FEE707DB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Illustrative reduction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2C1A2-5BCF-42C1-954A-EB2C1DBF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6212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8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58202-CF77-486E-8710-7827CDFE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146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Findings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7A10D-A7EC-4700-982A-77C00A4C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Possible repeated charges, panel overlap, fictional price differences, dates and visit setting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223A9-4BBD-4D81-98EF-99593D33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Overlapping findings count once per line. The reduction does not establish patient savings.</a:t>
            </a:r>
          </a:p>
        </p:txBody>
      </p:sp>
    </p:spTree>
    <p:extLst>
      <p:ext uri="{BB962C8B-B14F-4D97-AF65-F5344CB8AC3E}">
        <p14:creationId xmlns:p14="http://schemas.microsoft.com/office/powerpoint/2010/main" val="5623590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18740-8344-497D-8480-762244E8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3"/>
                </a:solidFill>
                <a:latin typeface="Arial"/>
                <a:ea typeface="Arial"/>
                <a:cs typeface="Arial"/>
              </a:rPr>
              <a:t>Synthetic testing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87095-6570-4FDD-ABB7-B2E89F02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E1065-F041-421F-9F17-9E8E4F78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13 valid scenarios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79EFA-3FA7-4559-84EA-AD8A376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7162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Clean bills, price boundaries, quantities, repeats, bundles, modifiers, dates, settings and unknown codes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03881-6C8F-490C-AF6F-EE30969E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Document formats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7BF3E-213C-46CF-B746-A5FD6AEF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Digital PDFs, a scan image, a mixed digital/scanned PDF and a three-page statement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2C61C-3C06-45C1-8184-3FD481AA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Additional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BCA62-CEA1-4A9F-8B86-DF28D50E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Three invalid bills plus EOB matching and payment examples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DBFC6-C8BC-4D21-95CF-18A716D7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Companion JSON files contain expected totals, reductions and finding categories.</a:t>
            </a:r>
          </a:p>
        </p:txBody>
      </p:sp>
    </p:spTree>
    <p:extLst>
      <p:ext uri="{BB962C8B-B14F-4D97-AF65-F5344CB8AC3E}">
        <p14:creationId xmlns:p14="http://schemas.microsoft.com/office/powerpoint/2010/main" val="5979873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2A2B1-E25E-41B2-8A65-40B9065E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3"/>
                </a:solidFill>
                <a:latin typeface="Arial"/>
                <a:ea typeface="Arial"/>
                <a:cs typeface="Arial"/>
              </a:rPr>
              <a:t>Current scope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05872-B455-4F45-9E88-1630C493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A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6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59667-53C1-4EDF-BFD3-00442B39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Available locally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A0F52-DE77-40AC-A431-180C0960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7162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Evidence workspace, assessments, reconciliation, encrypted snapshots and editable PDF/TXT letters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943B1-52D3-4267-9249-62292490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Current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D146A-5516-4978-8E7E-8E20715A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Login-free localhost demo, fictional references and manual verification of extracted fields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CE06A-3282-44DC-9327-E7D3324B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5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B45"/>
                </a:solidFill>
                <a:latin typeface="Arial"/>
                <a:ea typeface="Arial"/>
                <a:cs typeface="Arial"/>
              </a:rPr>
              <a:t>Future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68160-3E4A-4242-9B8E-34365563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D33"/>
                </a:solidFill>
                <a:latin typeface="Arial"/>
                <a:ea typeface="Arial"/>
                <a:cs typeface="Arial"/>
              </a:rPr>
              <a:t>Validated reference sources, authentication, tenant isolation and operational retention controls</a:t>
            </a:r>
          </a:p>
        </p:txBody>
      </p:sp>
    </p:spTree>
    <p:extLst>
      <p:ext uri="{BB962C8B-B14F-4D97-AF65-F5344CB8AC3E}">
        <p14:creationId xmlns:p14="http://schemas.microsoft.com/office/powerpoint/2010/main" val="26788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2026-10-24T17:01:42.4900000Z</dcterms:created>
  <dcterms:modified xsi:type="dcterms:W3CDTF">2026-10-24T17:01:42.4900000Z</dcterms:modified>
</coreProperties>
</file>